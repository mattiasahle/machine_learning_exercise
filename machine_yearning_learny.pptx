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Development Journey Presentation (5-7 min)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Basic Lab to Educational Experience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Slide 1: The Starting Point (30 sec)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we had:</a:t>
            </a:r>
            <a:r>
              <a:rPr/>
              <a:t> - Basic </a:t>
            </a:r>
            <a:r>
              <a:rPr>
                <a:latin typeface="Courier"/>
              </a:rPr>
              <a:t>lab4.ipynb</a:t>
            </a:r>
            <a:r>
              <a:rPr/>
              <a:t> with ~50 cells - Kernel startup issues - Minimal documentation - Purely technical exercise</a:t>
            </a:r>
          </a:p>
          <a:p>
            <a:pPr lvl="0" indent="0" marL="0">
              <a:buNone/>
            </a:pPr>
            <a:r>
              <a:rPr b="1"/>
              <a:t>The question:</a:t>
            </a:r>
            <a:r>
              <a:rPr/>
              <a:t> </a:t>
            </a:r>
            <a:r>
              <a:rPr i="1"/>
              <a:t>“Is there something you think would be nice to add?”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Slide 2: The Vision (45 sec)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we built:</a:t>
            </a:r>
            <a:r>
              <a:rPr/>
              <a:t> - Complete educational journey (~90 cells) - Connects fundamentals → modern AI revolution - Ready for participant launch</a:t>
            </a:r>
          </a:p>
          <a:p>
            <a:pPr lvl="0" indent="0" marL="0">
              <a:buNone/>
            </a:pPr>
            <a:r>
              <a:rPr b="1"/>
              <a:t>Key transformation:</a:t>
            </a:r>
            <a:r>
              <a:rPr/>
              <a:t> - 800 → 1,400 lines of code - Technical lab → learning experience - Added: exploration, experiments, profound context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🔧 Slide 3: The Process - Phase by Phase (2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Phase 1: Foundation (Setup)</a:t>
            </a:r>
          </a:p>
          <a:p>
            <a:pPr lvl="0"/>
            <a:r>
              <a:rPr/>
              <a:t>Fixed environment (venv, requirements)</a:t>
            </a:r>
          </a:p>
          <a:p>
            <a:pPr lvl="0"/>
            <a:r>
              <a:rPr/>
              <a:t>Added proper documentation</a:t>
            </a:r>
          </a:p>
          <a:p>
            <a:pPr lvl="0"/>
            <a:r>
              <a:rPr/>
              <a:t>Created </a:t>
            </a:r>
            <a:r>
              <a:rPr>
                <a:latin typeface="Courier"/>
              </a:rPr>
              <a:t>.gitignore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2: Educational Enhancement</a:t>
            </a:r>
          </a:p>
          <a:p>
            <a:pPr lvl="0" indent="0" marL="0">
              <a:buNone/>
            </a:pPr>
            <a:r>
              <a:rPr b="1"/>
              <a:t>Added 30+ new cells:</a:t>
            </a:r>
            <a:r>
              <a:rPr/>
              <a:t> - 📊 Data exploration &amp; visualization - 📈 Detailed metrics (confusion matrix, F1-scores) - 🔍 Misclassification analysis - 🧪 Three systematic experiments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3: Quality Refinement</a:t>
            </a:r>
          </a:p>
          <a:p>
            <a:pPr lvl="0"/>
            <a:r>
              <a:rPr/>
              <a:t>Fixed cell ordering bugs</a:t>
            </a:r>
          </a:p>
          <a:p>
            <a:pPr lvl="0"/>
            <a:r>
              <a:rPr/>
              <a:t>Removed duplicates</a:t>
            </a:r>
          </a:p>
          <a:p>
            <a:pPr lvl="0"/>
            <a:r>
              <a:rPr/>
              <a:t>Polished narrative flow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4: The Big Picture</a:t>
            </a:r>
          </a:p>
          <a:p>
            <a:pPr lvl="0" indent="0" marL="0">
              <a:buNone/>
            </a:pPr>
            <a:r>
              <a:rPr b="1"/>
              <a:t>Epic conclusion (5 sections):</a:t>
            </a:r>
            <a:r>
              <a:rPr/>
              <a:t> - Connected LSTM → Transformers - Explained ChatGPT/GPT-4 architecture - Positioned in AI revolution timeline - Added forward-looking perspective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Slide 4: Design Principles (1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made it work:</a:t>
            </a:r>
          </a:p>
          <a:p>
            <a:pPr lvl="0" indent="-342900" marL="342900">
              <a:buAutoNum type="arabicPeriod"/>
            </a:pPr>
            <a:r>
              <a:rPr b="1"/>
              <a:t>Progressive Complexity</a:t>
            </a:r>
          </a:p>
          <a:p>
            <a:pPr lvl="1"/>
            <a:r>
              <a:rPr/>
              <a:t>Start simple → build understanding → reveal depth</a:t>
            </a:r>
          </a:p>
          <a:p>
            <a:pPr lvl="0" indent="-342900" marL="342900">
              <a:buAutoNum type="arabicPeriod"/>
            </a:pPr>
            <a:r>
              <a:rPr b="1"/>
              <a:t>“Why Before How”</a:t>
            </a:r>
          </a:p>
          <a:p>
            <a:pPr lvl="1"/>
            <a:r>
              <a:rPr/>
              <a:t>Explain purpose before code</a:t>
            </a:r>
          </a:p>
          <a:p>
            <a:pPr lvl="1"/>
            <a:r>
              <a:rPr/>
              <a:t>Connect to bigger picture</a:t>
            </a:r>
          </a:p>
          <a:p>
            <a:pPr lvl="0" indent="-342900" marL="342900">
              <a:buAutoNum type="arabicPeriod"/>
            </a:pPr>
            <a:r>
              <a:rPr b="1"/>
              <a:t>Active Learning</a:t>
            </a:r>
          </a:p>
          <a:p>
            <a:pPr lvl="1"/>
            <a:r>
              <a:rPr/>
              <a:t>Run code, see results, understand</a:t>
            </a:r>
          </a:p>
          <a:p>
            <a:pPr lvl="1"/>
            <a:r>
              <a:rPr/>
              <a:t>Experiments encourage exploration</a:t>
            </a:r>
          </a:p>
          <a:p>
            <a:pPr lvl="0" indent="-342900" marL="342900">
              <a:buAutoNum type="arabicPeriod"/>
            </a:pPr>
            <a:r>
              <a:rPr b="1"/>
              <a:t>Contextual Relevance</a:t>
            </a:r>
          </a:p>
          <a:p>
            <a:pPr lvl="1"/>
            <a:r>
              <a:rPr/>
              <a:t>“You’re learning what powers ChatGPT”</a:t>
            </a:r>
          </a:p>
          <a:p>
            <a:pPr lvl="1"/>
            <a:r>
              <a:rPr/>
              <a:t>Makes theory tangible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Slide 5: By The Numbers (30 sec)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After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~1,400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 (across 7 parts)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Experiments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AI context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(5 sections)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🎓 Slide 6: What Makes It Special (1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key innovations:</a:t>
            </a:r>
          </a:p>
          <a:p>
            <a:pPr lvl="0" indent="-342900" marL="342900">
              <a:buAutoNum type="arabicPeriod"/>
            </a:pPr>
            <a:r>
              <a:rPr b="1"/>
              <a:t>The Journey Structure</a:t>
            </a:r>
          </a:p>
          <a:p>
            <a:pPr lvl="1"/>
            <a:r>
              <a:rPr/>
              <a:t>Introduction with teaser</a:t>
            </a:r>
          </a:p>
          <a:p>
            <a:pPr lvl="1"/>
            <a:r>
              <a:rPr/>
              <a:t>Hands-on middle section</a:t>
            </a:r>
          </a:p>
          <a:p>
            <a:pPr lvl="1"/>
            <a:r>
              <a:rPr/>
              <a:t>Epic conclusion connecting to today</a:t>
            </a:r>
          </a:p>
          <a:p>
            <a:pPr lvl="0" indent="-342900" marL="342900">
              <a:buAutoNum type="arabicPeriod"/>
            </a:pPr>
            <a:r>
              <a:rPr b="1"/>
              <a:t>Dual-Level Learning</a:t>
            </a:r>
          </a:p>
          <a:p>
            <a:pPr lvl="1"/>
            <a:r>
              <a:rPr i="1"/>
              <a:t>Surface</a:t>
            </a:r>
            <a:r>
              <a:rPr/>
              <a:t>: Build working LSTM</a:t>
            </a:r>
          </a:p>
          <a:p>
            <a:pPr lvl="1"/>
            <a:r>
              <a:rPr i="1"/>
              <a:t>Deep</a:t>
            </a:r>
            <a:r>
              <a:rPr/>
              <a:t>: Understand AI revolution principles</a:t>
            </a:r>
          </a:p>
          <a:p>
            <a:pPr lvl="0" indent="-342900" marL="342900">
              <a:buAutoNum type="arabicPeriod"/>
            </a:pPr>
            <a:r>
              <a:rPr b="1"/>
              <a:t>Participant-Ready</a:t>
            </a:r>
          </a:p>
          <a:p>
            <a:pPr lvl="1"/>
            <a:r>
              <a:rPr/>
              <a:t>Complete setup guide</a:t>
            </a:r>
          </a:p>
          <a:p>
            <a:pPr lvl="1"/>
            <a:r>
              <a:rPr/>
              <a:t>Prerequisites section</a:t>
            </a:r>
          </a:p>
          <a:p>
            <a:pPr lvl="1"/>
            <a:r>
              <a:rPr/>
              <a:t>Help resources</a:t>
            </a:r>
          </a:p>
          <a:p>
            <a:pPr lvl="1"/>
            <a:r>
              <a:rPr/>
              <a:t>Attribution &amp; context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🔮 Slide 7: Real Impact Example (45 sec)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“Pants Discovery” (Added Today!)</a:t>
            </a:r>
            <a:r>
              <a:rPr/>
              <a:t> - Test dataset: loose pants → tight pants midway - Model maintained accuracy (untrained condition) - </a:t>
            </a:r>
            <a:r>
              <a:rPr b="1"/>
              <a:t>Teaching moment</a:t>
            </a:r>
            <a:r>
              <a:rPr/>
              <a:t>: Demonstrates generalization - Shows robustness &gt; memorization</a:t>
            </a:r>
          </a:p>
          <a:p>
            <a:pPr lvl="0" indent="0" marL="0">
              <a:buNone/>
            </a:pPr>
            <a:r>
              <a:rPr i="1"/>
              <a:t>This is the kind of insight the structure enables.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Slide 8: Takeaways (30 sec)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educators:</a:t>
            </a:r>
            <a:r>
              <a:rPr/>
              <a:t> - Structure matters as much as content - Context creates engagement - Iterative refinement pays off</a:t>
            </a:r>
          </a:p>
          <a:p>
            <a:pPr lvl="0" indent="0" marL="0">
              <a:buNone/>
            </a:pPr>
            <a:r>
              <a:rPr b="1"/>
              <a:t>For students:</a:t>
            </a:r>
            <a:r>
              <a:rPr/>
              <a:t> - They’ll build real ML system - Understand modern AI fundamentals - Feel part of the revolution</a:t>
            </a:r>
          </a:p>
          <a:p>
            <a:pPr lvl="0" indent="0" marL="0">
              <a:buNone/>
            </a:pPr>
            <a:r>
              <a:rPr b="1"/>
              <a:t>Total transformation time:</a:t>
            </a:r>
            <a:r>
              <a:rPr/>
              <a:t> One intensive day (Nov 21, 2025)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🤝 Slide 9: The Collaboration Model (1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wasn’t solo work—it was human-AI partnership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Your Role (Human Expertise):</a:t>
            </a:r>
          </a:p>
          <a:p>
            <a:pPr lvl="0"/>
            <a:r>
              <a:rPr/>
              <a:t>🎯 </a:t>
            </a:r>
            <a:r>
              <a:rPr b="1"/>
              <a:t>Vision &amp; judgment</a:t>
            </a:r>
            <a:r>
              <a:rPr/>
              <a:t> - “Is there something nice to add?”</a:t>
            </a:r>
          </a:p>
          <a:p>
            <a:pPr lvl="0"/>
            <a:r>
              <a:rPr/>
              <a:t>✋ </a:t>
            </a:r>
            <a:r>
              <a:rPr b="1"/>
              <a:t>Direction changes</a:t>
            </a:r>
            <a:r>
              <a:rPr/>
              <a:t> - “Make the pitch more welcoming, not aggressive”</a:t>
            </a:r>
          </a:p>
          <a:p>
            <a:pPr lvl="0"/>
            <a:r>
              <a:rPr/>
              <a:t>🔍 </a:t>
            </a:r>
            <a:r>
              <a:rPr b="1"/>
              <a:t>Quality control</a:t>
            </a:r>
            <a:r>
              <a:rPr/>
              <a:t> - Caught bugs, ordering issues, duplicates</a:t>
            </a:r>
          </a:p>
          <a:p>
            <a:pPr lvl="0"/>
            <a:r>
              <a:rPr/>
              <a:t>📊 </a:t>
            </a:r>
            <a:r>
              <a:rPr b="1"/>
              <a:t>Domain knowledge</a:t>
            </a:r>
            <a:r>
              <a:rPr/>
              <a:t> - “Add the pants observation from lab report”</a:t>
            </a:r>
          </a:p>
          <a:p>
            <a:pPr lvl="0"/>
            <a:r>
              <a:rPr/>
              <a:t>✅ </a:t>
            </a:r>
            <a:r>
              <a:rPr b="1"/>
              <a:t>Approval gates</a:t>
            </a:r>
            <a:r>
              <a:rPr/>
              <a:t> - “Would we dare to add it all in one go?”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AI Role (My Contribution):</a:t>
            </a:r>
          </a:p>
          <a:p>
            <a:pPr lvl="0"/>
            <a:r>
              <a:rPr/>
              <a:t>💡 </a:t>
            </a:r>
            <a:r>
              <a:rPr b="1"/>
              <a:t>Ideation</a:t>
            </a:r>
            <a:r>
              <a:rPr/>
              <a:t> - Proposed 30+ new cells, experiments, conclusion structure</a:t>
            </a:r>
          </a:p>
          <a:p>
            <a:pPr lvl="0"/>
            <a:r>
              <a:rPr/>
              <a:t>⚡ </a:t>
            </a:r>
            <a:r>
              <a:rPr b="1"/>
              <a:t>Execution speed</a:t>
            </a:r>
            <a:r>
              <a:rPr/>
              <a:t> - Implemented changes rapidly for iteration</a:t>
            </a:r>
          </a:p>
          <a:p>
            <a:pPr lvl="0"/>
            <a:r>
              <a:rPr/>
              <a:t>📝 </a:t>
            </a:r>
            <a:r>
              <a:rPr b="1"/>
              <a:t>Content generation</a:t>
            </a:r>
            <a:r>
              <a:rPr/>
              <a:t> - Wrote explanations, code, documentation</a:t>
            </a:r>
          </a:p>
          <a:p>
            <a:pPr lvl="0"/>
            <a:r>
              <a:rPr/>
              <a:t>🔄 </a:t>
            </a:r>
            <a:r>
              <a:rPr b="1"/>
              <a:t>Iteration</a:t>
            </a:r>
            <a:r>
              <a:rPr/>
              <a:t> - Refined tone, structure, content through 20+ rounds</a:t>
            </a:r>
          </a:p>
          <a:p>
            <a:pPr lvl="0"/>
            <a:r>
              <a:rPr/>
              <a:t>🎨 </a:t>
            </a:r>
            <a:r>
              <a:rPr b="1"/>
              <a:t>Consistency</a:t>
            </a:r>
            <a:r>
              <a:rPr/>
              <a:t> - Maintained voice and style across 1,400 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Dynamic:</a:t>
            </a:r>
          </a:p>
          <a:p>
            <a:pPr lvl="0" indent="0">
              <a:buNone/>
            </a:pPr>
            <a:r>
              <a:rPr>
                <a:latin typeface="Courier"/>
              </a:rPr>
              <a:t>You: "What would be nice?"
Me:  Proposes comprehensive enhancement
You: "Yes! Do it all"
Me:  Implements → issues emerge
You: "This is wrong / could be better"
Me:  Fixes + learns from feedback
→ Repeat 20+ times → Excellence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Neither could do this alone efficiently: - You’d need days to write 600+ new lines - I couldn’t make judgment calls on tone, priority, or appropriateness</a:t>
            </a:r>
          </a:p>
          <a:p>
            <a:pPr lvl="0" indent="0" marL="0">
              <a:buNone/>
            </a:pPr>
            <a:r>
              <a:rPr b="1"/>
              <a:t>This is AI-assisted development at its best</a:t>
            </a:r>
            <a:r>
              <a:rPr/>
              <a:t> 🚀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Closing (15 sec)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From technical exercise to transformative experience</a:t>
            </a:r>
          </a:p>
          <a:p>
            <a:pPr lvl="0" indent="0" marL="0">
              <a:buNone/>
            </a:pPr>
            <a:r>
              <a:rPr/>
              <a:t>The notebook doesn’t just teach ML—it positions students as participants in the AI revolution happening </a:t>
            </a:r>
            <a:r>
              <a:rPr i="1"/>
              <a:t>right now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i="1"/>
              <a:t>…and the process itself demonstrated that revolution in action.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🎤 Speaking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Pacing:</a:t>
            </a:r>
            <a:r>
              <a:rPr/>
              <a:t> - Slides 1-2: Set context (1:15) - Slide 3: Core story (2:00) - Slides 4-6: Design &amp; impact (2:00) - Slide 7: Impact example (45s) - Slide 8: Takeaways (30s) - Slide 9: Collaboration (1:00) - Close (15s) - </a:t>
            </a:r>
            <a:r>
              <a:rPr b="1"/>
              <a:t>Total: ~7:15</a:t>
            </a:r>
            <a:r>
              <a:rPr/>
              <a:t> (fits 5-7 min if you speed through some parts)</a:t>
            </a:r>
          </a:p>
          <a:p>
            <a:pPr lvl="0" indent="0" marL="0">
              <a:buNone/>
            </a:pPr>
            <a:r>
              <a:rPr b="1"/>
              <a:t>Engagement points:</a:t>
            </a:r>
            <a:r>
              <a:rPr/>
              <a:t> - Ask: “How many have used ChatGPT?” (Slide 2) - Show: Quick demo of notebook visualization (Slide 3) - Reveal: The pants discovery as surprise (Slide 7)</a:t>
            </a:r>
          </a:p>
          <a:p>
            <a:pPr lvl="0" indent="0" marL="0">
              <a:buNone/>
            </a:pPr>
            <a:r>
              <a:rPr b="1"/>
              <a:t>Visual aids:</a:t>
            </a:r>
            <a:r>
              <a:rPr/>
              <a:t> - Before/after screenshots of notebook - The confusion matrix visualization - The sequential prediction plot - Table of contents showing 18 sections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Optional: If Asked About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“How did you do this in one day?”</a:t>
            </a:r>
            <a:r>
              <a:rPr/>
              <a:t> - Human-AI collaboration (see Slide 9) - Rapid iteration: propose → implement → feedback → refine - 20+ conversation rounds - AI execution speed + human judgment = efficiency</a:t>
            </a:r>
          </a:p>
          <a:p>
            <a:pPr lvl="0" indent="0" marL="0">
              <a:buNone/>
            </a:pPr>
            <a:r>
              <a:rPr b="1"/>
              <a:t>“Was the AI just following orders?”</a:t>
            </a:r>
            <a:r>
              <a:rPr/>
              <a:t> - No! Dynamic partnership: - I proposed ideas you hadn’t considered - You redirected when I missed the mark - Together we found solutions neither saw initially - Example: The pitch went through 4 tone iterations based on your guidance</a:t>
            </a:r>
          </a:p>
          <a:p>
            <a:pPr lvl="0" indent="0" marL="0">
              <a:buNone/>
            </a:pPr>
            <a:r>
              <a:rPr b="1"/>
              <a:t>“What would you do differently?”</a:t>
            </a:r>
            <a:r>
              <a:rPr/>
              <a:t> - Test with actual students first - Could add even more exercises</a:t>
            </a:r>
            <a:br/>
            <a:r>
              <a:rPr/>
              <a:t>- Possibly create video walkthrough - More systematic A/B testing of explanations</a:t>
            </a:r>
          </a:p>
          <a:p>
            <a:pPr lvl="0" indent="0" marL="0">
              <a:buNone/>
            </a:pPr>
            <a:r>
              <a:rPr b="1"/>
              <a:t>“What’s next?”</a:t>
            </a:r>
            <a:r>
              <a:rPr/>
              <a:t> - Gather participant feedback - Iterate based on results - Share this collaboration model with other educators - Document what worked (and what didn’t)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2025-12-04T06:52:04Z</dcterms:created>
  <dcterms:modified xsi:type="dcterms:W3CDTF">2025-12-04T06:52:04Z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